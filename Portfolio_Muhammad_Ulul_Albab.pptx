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583680" cy="6583680"/>
          </a:xfrm>
          <a:prstGeom prst="ellipse">
            <a:avLst/>
          </a:prstGeom>
          <a:solidFill>
            <a:srgbClr val="FBE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3200400"/>
            <a:ext cx="3657600" cy="3657600"/>
          </a:xfrm>
          <a:prstGeom prst="ellipse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file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417320"/>
            <a:ext cx="301752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86000"/>
            <a:ext cx="7863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748C"/>
                </a:solidFill>
                <a:latin typeface="Arial"/>
              </a:defRPr>
            </a:pPr>
            <a:r>
              <a:t>AVAILABLE FOR FREELANCE &amp; COLLABORATION</a:t>
            </a:r>
          </a:p>
          <a:p>
            <a:pPr>
              <a:spcBef>
                <a:spcPts val="1000"/>
              </a:spcBef>
              <a:defRPr sz="4800" b="1">
                <a:solidFill>
                  <a:srgbClr val="332F2B"/>
                </a:solidFill>
                <a:latin typeface="Arial"/>
              </a:defRPr>
            </a:pPr>
            <a:r>
              <a:t>Muhammad Ulul Albab</a:t>
            </a:r>
          </a:p>
          <a:p>
            <a:pPr>
              <a:spcBef>
                <a:spcPts val="400"/>
              </a:spcBef>
              <a:defRPr sz="2200">
                <a:solidFill>
                  <a:srgbClr val="8A847C"/>
                </a:solidFill>
                <a:latin typeface="Arial"/>
              </a:defRPr>
            </a:pPr>
            <a:r>
              <a:t>Fullstack &amp; AI Application Developer</a:t>
            </a:r>
          </a:p>
          <a:p>
            <a:pPr>
              <a:spcBef>
                <a:spcPts val="1400"/>
              </a:spcBef>
              <a:defRPr sz="1400" i="1">
                <a:solidFill>
                  <a:srgbClr val="5B8A72"/>
                </a:solidFill>
                <a:latin typeface="Arial"/>
              </a:defRPr>
            </a:pPr>
            <a:r>
              <a:t>Perpaduan ketelitian analisis farmasi &amp; rekayasa perangkat lunak modern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748C"/>
                </a:solidFill>
                <a:latin typeface="Arial"/>
              </a:defRPr>
            </a:pPr>
            <a:r>
              <a:t>PROFIL PROFESIONAL</a:t>
            </a:r>
          </a:p>
          <a:p>
            <a:pPr>
              <a:spcBef>
                <a:spcPts val="200"/>
              </a:spcBef>
              <a:defRPr sz="2700" b="1">
                <a:solidFill>
                  <a:srgbClr val="332F2B"/>
                </a:solidFill>
                <a:latin typeface="Arial"/>
              </a:defRPr>
            </a:pPr>
            <a:r>
              <a:t>Tentang Saya &amp; Latar Belakang Analitis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FBE9ED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C4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965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Pendidikan &amp; Fondasi Eksakta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4748C"/>
                </a:solidFill>
                <a:latin typeface="Arial"/>
              </a:defRPr>
            </a:pPr>
            <a:r>
              <a:t>Universitas Pakuan — Program Studi Farmasi</a:t>
            </a:r>
          </a:p>
          <a:p>
            <a:pPr>
              <a:spcBef>
                <a:spcPts val="1000"/>
              </a:spcBef>
              <a:defRPr sz="1300">
                <a:solidFill>
                  <a:srgbClr val="8A847C"/>
                </a:solidFill>
                <a:latin typeface="Arial"/>
              </a:defRPr>
            </a:pPr>
            <a:r>
              <a:t>Latar belakang Farmasi membentuk ketelitian tinggi, logika eksploratif, serta pola pikir analitis eksakta yang kuat dalam memecahkan masalah kompleks.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E6F0E8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65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Transisi ke Software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8892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8A847C"/>
                </a:solidFill>
                <a:latin typeface="Arial"/>
              </a:defRPr>
            </a:pPr>
            <a:r>
              <a:t>•  Fokus pada pembentukan arsitektur sistem yang bersih, efisien, dan siap pakai di lingkungan cloud.</a:t>
            </a:r>
          </a:p>
          <a:p>
            <a:pPr>
              <a:spcAft>
                <a:spcPts val="1000"/>
              </a:spcAft>
              <a:defRPr sz="1300">
                <a:solidFill>
                  <a:srgbClr val="8A847C"/>
                </a:solidFill>
                <a:latin typeface="Arial"/>
              </a:defRPr>
            </a:pPr>
            <a:r>
              <a:t>•  Menguasai pemecahan masalah teknis end-to-end: dari profil memori PyTorch/Docker hingga optimasi database.</a:t>
            </a:r>
          </a:p>
          <a:p>
            <a:pPr>
              <a:spcAft>
                <a:spcPts val="1000"/>
              </a:spcAft>
              <a:defRPr sz="1300">
                <a:solidFill>
                  <a:srgbClr val="8A847C"/>
                </a:solidFill>
                <a:latin typeface="Arial"/>
              </a:defRPr>
            </a:pPr>
            <a:r>
              <a:t>•  Komitmen pada pembelajaran berkelanjutan tanpa ragu menghadapi tantangan teknologi baru.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6DA8"/>
                </a:solidFill>
                <a:latin typeface="Arial"/>
              </a:defRPr>
            </a:pPr>
            <a:r>
              <a:t>TECHNICAL STACK</a:t>
            </a:r>
          </a:p>
          <a:p>
            <a:pPr>
              <a:spcBef>
                <a:spcPts val="200"/>
              </a:spcBef>
              <a:defRPr sz="2700" b="1">
                <a:solidFill>
                  <a:srgbClr val="332F2B"/>
                </a:solidFill>
                <a:latin typeface="Arial"/>
              </a:defRPr>
            </a:pPr>
            <a:r>
              <a:t>Keahlian &amp; Ekosistem Teknologi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E3F1EF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2103120"/>
            <a:ext cx="548640" cy="548640"/>
          </a:xfrm>
          <a:prstGeom prst="ellipse">
            <a:avLst/>
          </a:prstGeom>
          <a:solidFill>
            <a:srgbClr val="3F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029968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Frontend &amp; Mobile</a:t>
            </a:r>
          </a:p>
          <a:p>
            <a:pPr>
              <a:spcBef>
                <a:spcPts val="600"/>
              </a:spcBef>
              <a:defRPr sz="1250">
                <a:solidFill>
                  <a:srgbClr val="8A847C"/>
                </a:solidFill>
                <a:latin typeface="Arial"/>
              </a:defRPr>
            </a:pPr>
            <a:r>
              <a:t>React, React Native, Expo SDK 54, Tailwind CSS, Vite, HTML/JS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FBE9ED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C4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29968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Backend &amp; API</a:t>
            </a:r>
          </a:p>
          <a:p>
            <a:pPr>
              <a:spcBef>
                <a:spcPts val="600"/>
              </a:spcBef>
              <a:defRPr sz="1250">
                <a:solidFill>
                  <a:srgbClr val="8A847C"/>
                </a:solidFill>
                <a:latin typeface="Arial"/>
              </a:defRPr>
            </a:pPr>
            <a:r>
              <a:t>FastAPI (Python), Laravel 11 (PHP), Node.js/Express, Firebase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ECE7F6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4389120"/>
            <a:ext cx="548640" cy="548640"/>
          </a:xfrm>
          <a:prstGeom prst="ellipse">
            <a:avLst/>
          </a:prstGeom>
          <a:solidFill>
            <a:srgbClr val="7C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315968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AI &amp; Data Intelligence</a:t>
            </a:r>
          </a:p>
          <a:p>
            <a:pPr>
              <a:spcBef>
                <a:spcPts val="600"/>
              </a:spcBef>
              <a:defRPr sz="1250">
                <a:solidFill>
                  <a:srgbClr val="8A847C"/>
                </a:solidFill>
                <a:latin typeface="Arial"/>
              </a:defRPr>
            </a:pPr>
            <a:r>
              <a:t>Gemini RAG API, PyTorch, SentenceTransformers, pgvector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E6F0E8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4389120"/>
            <a:ext cx="548640" cy="548640"/>
          </a:xfrm>
          <a:prstGeom prst="ellipse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315968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Database &amp; Cloud</a:t>
            </a:r>
          </a:p>
          <a:p>
            <a:pPr>
              <a:spcBef>
                <a:spcPts val="600"/>
              </a:spcBef>
              <a:defRPr sz="1250">
                <a:solidFill>
                  <a:srgbClr val="8A847C"/>
                </a:solidFill>
                <a:latin typeface="Arial"/>
              </a:defRPr>
            </a:pPr>
            <a:r>
              <a:t>PostgreSQL, MySQL, Firebase Firestore, SQLite, Docker, Vercel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F8B8C"/>
                </a:solidFill>
                <a:latin typeface="Arial"/>
              </a:defRPr>
            </a:pPr>
            <a:r>
              <a:t>FEATURED ENTERPRISE &amp; MOBILE PROJECT</a:t>
            </a:r>
          </a:p>
          <a:p>
            <a:pPr>
              <a:spcBef>
                <a:spcPts val="200"/>
              </a:spcBef>
              <a:defRPr sz="2700" b="1">
                <a:solidFill>
                  <a:srgbClr val="332F2B"/>
                </a:solidFill>
                <a:latin typeface="Arial"/>
              </a:defRPr>
            </a:pPr>
            <a:r>
              <a:t>SchoolCom — School Management &amp; Communication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7345375" cy="4297680"/>
          </a:xfrm>
          <a:prstGeom prst="roundRect">
            <a:avLst>
              <a:gd name="adj" fmla="val 6000"/>
            </a:avLst>
          </a:prstGeom>
          <a:solidFill>
            <a:srgbClr val="E3F1EF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965960"/>
            <a:ext cx="502920" cy="502920"/>
          </a:xfrm>
          <a:prstGeom prst="ellipse">
            <a:avLst/>
          </a:prstGeom>
          <a:solidFill>
            <a:srgbClr val="3F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938528"/>
            <a:ext cx="6339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Sistem Pengelolaan &amp; Komunikasi Sekolah Terpadu 3 Peran (Android &amp; Web)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80360"/>
            <a:ext cx="67967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3F8B8C"/>
                </a:solidFill>
                <a:latin typeface="Arial"/>
              </a:defRPr>
            </a:pPr>
            <a:r>
              <a:t>Tech Stack: React Native (Expo SDK 54), Firebase Firestore/Auth, React, Vite, Tailwind CSS v4, Vercel</a:t>
            </a:r>
          </a:p>
          <a:p>
            <a:pPr>
              <a:spcAft>
                <a:spcPts val="700"/>
              </a:spcAft>
              <a:defRPr sz="1200">
                <a:solidFill>
                  <a:srgbClr val="332F2B"/>
                </a:solidFill>
                <a:latin typeface="Arial"/>
              </a:defRPr>
            </a:pPr>
            <a:r>
              <a:t>✓  Role-Based Architecture (RBAC): Tiga antarmuka terpisah khusus untuk Admin Sekolah, Guru Kelas, dan Orang Tua.</a:t>
            </a:r>
          </a:p>
          <a:p>
            <a:pPr>
              <a:spcAft>
                <a:spcPts val="700"/>
              </a:spcAft>
              <a:defRPr sz="1200">
                <a:solidFill>
                  <a:srgbClr val="332F2B"/>
                </a:solidFill>
                <a:latin typeface="Arial"/>
              </a:defRPr>
            </a:pPr>
            <a:r>
              <a:t>✓  Module Auditability: 40 modul teraudit mencakup presensi harian batch, penginputan nilai rapor, &amp; rekapitulasi.</a:t>
            </a:r>
          </a:p>
          <a:p>
            <a:pPr>
              <a:spcAft>
                <a:spcPts val="700"/>
              </a:spcAft>
              <a:defRPr sz="1200">
                <a:solidFill>
                  <a:srgbClr val="332F2B"/>
                </a:solidFill>
                <a:latin typeface="Arial"/>
              </a:defRPr>
            </a:pPr>
            <a:r>
              <a:t>✓  Parent-Child Scoping: Transparansi pemantauan kehadiran dan catatan insiden/perilaku siswa secara aman.</a:t>
            </a:r>
          </a:p>
          <a:p>
            <a:pPr>
              <a:spcAft>
                <a:spcPts val="700"/>
              </a:spcAft>
              <a:defRPr sz="1200">
                <a:solidFill>
                  <a:srgbClr val="332F2B"/>
                </a:solidFill>
                <a:latin typeface="Arial"/>
              </a:defRPr>
            </a:pPr>
            <a:r>
              <a:t>✓  Landing Page &amp; Conversion: Landing page khusus Vercel terintegrasi ke WhatsApp untuk permintaan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79959" y="1737360"/>
            <a:ext cx="205147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9728" dist="36576" dir="5400000" rotWithShape="0">
              <a:srgbClr val="4A40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ject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687" y="1847088"/>
            <a:ext cx="1832014" cy="4078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748C"/>
                </a:solidFill>
                <a:latin typeface="Arial"/>
              </a:defRPr>
            </a:pPr>
            <a:r>
              <a:t>FEATURED AI PROJECT</a:t>
            </a:r>
          </a:p>
          <a:p>
            <a:pPr>
              <a:spcBef>
                <a:spcPts val="200"/>
              </a:spcBef>
              <a:defRPr sz="2700" b="1">
                <a:solidFill>
                  <a:srgbClr val="332F2B"/>
                </a:solidFill>
                <a:latin typeface="Arial"/>
              </a:defRPr>
            </a:pPr>
            <a:r>
              <a:t>ScentDNA — AI Fragrance Discovery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6248095" cy="4297680"/>
          </a:xfrm>
          <a:prstGeom prst="roundRect">
            <a:avLst>
              <a:gd name="adj" fmla="val 6000"/>
            </a:avLst>
          </a:prstGeom>
          <a:solidFill>
            <a:srgbClr val="FBE9ED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965960"/>
            <a:ext cx="502920" cy="502920"/>
          </a:xfrm>
          <a:prstGeom prst="ellipse">
            <a:avLst/>
          </a:prstGeom>
          <a:solidFill>
            <a:srgbClr val="C4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938528"/>
            <a:ext cx="5242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Mesin Rekomendasi Aroma Vector Search &amp; RAG AI (Dockerized)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56994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C4748C"/>
                </a:solidFill>
                <a:latin typeface="Arial"/>
              </a:defRPr>
            </a:pPr>
            <a:r>
              <a:t>Tech Stack: FastAPI (Python), PyTorch, SentenceTransformers, pgvector (PostgreSQL), Docker, Gemini 2.5 Flash API</a:t>
            </a:r>
          </a:p>
          <a:p>
            <a:pPr>
              <a:spcAft>
                <a:spcPts val="700"/>
              </a:spcAft>
              <a:defRPr sz="1200">
                <a:solidFill>
                  <a:srgbClr val="332F2B"/>
                </a:solidFill>
                <a:latin typeface="Arial"/>
              </a:defRPr>
            </a:pPr>
            <a:r>
              <a:t>✓  Semantic Vector Search: Menggunakan pembacaan kemiripan kosinus (&lt;=&gt;) berbasis pgvector PostgreSQL.</a:t>
            </a:r>
          </a:p>
          <a:p>
            <a:pPr>
              <a:spcAft>
                <a:spcPts val="700"/>
              </a:spcAft>
              <a:defRPr sz="1200">
                <a:solidFill>
                  <a:srgbClr val="332F2B"/>
                </a:solidFill>
                <a:latin typeface="Arial"/>
              </a:defRPr>
            </a:pPr>
            <a:r>
              <a:t>✓  RAG Gemini Consultant: Rekomendasi kontekstual terstruktur dari hasil pencarian vektor produk.</a:t>
            </a:r>
          </a:p>
          <a:p>
            <a:pPr>
              <a:spcAft>
                <a:spcPts val="700"/>
              </a:spcAft>
              <a:defRPr sz="1200">
                <a:solidFill>
                  <a:srgbClr val="332F2B"/>
                </a:solidFill>
                <a:latin typeface="Arial"/>
              </a:defRPr>
            </a:pPr>
            <a:r>
              <a:t>✓  Singleton Pattern (Dependency Injection): Restrukturisasi lifespan FastAPI untuk hemat alokasi RAM.</a:t>
            </a:r>
          </a:p>
          <a:p>
            <a:pPr>
              <a:spcAft>
                <a:spcPts val="700"/>
              </a:spcAft>
              <a:defRPr sz="1200">
                <a:solidFill>
                  <a:srgbClr val="332F2B"/>
                </a:solidFill>
                <a:latin typeface="Arial"/>
              </a:defRPr>
            </a:pPr>
            <a:r>
              <a:t>✓  Memory Hardening: Optimasi PyTorch CPU single-threading &amp; garbage collection aktif untuk stabilitas cloud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0735" y="1737360"/>
            <a:ext cx="4152638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9728" dist="36576" dir="5400000" rotWithShape="0">
              <a:srgbClr val="4A40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ject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463" y="1847088"/>
            <a:ext cx="3933182" cy="4078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6DA8"/>
                </a:solidFill>
                <a:latin typeface="Arial"/>
              </a:defRPr>
            </a:pPr>
            <a:r>
              <a:t>FEATURED AI PROJECTS</a:t>
            </a:r>
          </a:p>
          <a:p>
            <a:pPr>
              <a:spcBef>
                <a:spcPts val="200"/>
              </a:spcBef>
              <a:defRPr sz="2700" b="1">
                <a:solidFill>
                  <a:srgbClr val="332F2B"/>
                </a:solidFill>
                <a:latin typeface="Arial"/>
              </a:defRPr>
            </a:pPr>
            <a:r>
              <a:t>AI Solutions: PodLearn AI &amp; Telegram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ECE7F6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7C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PodLearn AI — Podcast &amp; Quiz</a:t>
            </a:r>
          </a:p>
        </p:txBody>
      </p:sp>
      <p:pic>
        <p:nvPicPr>
          <p:cNvPr id="6" name="Picture 5" descr="project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589" y="2697480"/>
            <a:ext cx="2248500" cy="1417320"/>
          </a:xfrm>
          <a:prstGeom prst="rect">
            <a:avLst/>
          </a:prstGeom>
          <a:effectLst>
            <a:outerShdw blurRad="73152" dist="27432" dir="5400000" rotWithShape="0">
              <a:srgbClr val="4A4038">
                <a:alpha val="2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051560" y="425196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Integrasi Gemini AI untuk naskah dialog.</a:t>
            </a:r>
          </a:p>
          <a:p>
            <a:pPr>
              <a:spcAft>
                <a:spcPts val="4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Microsoft Edge Neural TTS multi-suara.</a:t>
            </a:r>
          </a:p>
          <a:p>
            <a:pPr>
              <a:spcAft>
                <a:spcPts val="4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FFmpeg Concat untuk penggabungan audio.</a:t>
            </a:r>
          </a:p>
          <a:p>
            <a:pPr>
              <a:spcAft>
                <a:spcPts val="4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Generator 10 kuis evaluasi interaktif.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E3F1EF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3F8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Telegram AI Assistant (Live 24/7)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974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8A847C"/>
                </a:solidFill>
                <a:latin typeface="Arial"/>
              </a:defRPr>
            </a:pPr>
            <a:r>
              <a:t>Bot Telegram personal cerdas yang aktif 24/7 di cloud server tanpa henti.</a:t>
            </a:r>
          </a:p>
          <a:p>
            <a:pPr>
              <a:spcAft>
                <a:spcPts val="6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Model LLM Llama-3.3 70B via Groq API.</a:t>
            </a:r>
          </a:p>
          <a:p>
            <a:pPr>
              <a:spcAft>
                <a:spcPts val="6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Respon cerdas multibahasa real-time.</a:t>
            </a:r>
          </a:p>
          <a:p>
            <a:pPr>
              <a:spcAft>
                <a:spcPts val="6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System prompt kustom untuk persona unik.</a:t>
            </a:r>
          </a:p>
          <a:p>
            <a:pPr>
              <a:spcAft>
                <a:spcPts val="6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Deployed 24/7 di Railway Cloud.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17A4A"/>
                </a:solidFill>
                <a:latin typeface="Arial"/>
              </a:defRPr>
            </a:pPr>
            <a:r>
              <a:t>FUNCTIONAL SYSTEMS</a:t>
            </a:r>
          </a:p>
          <a:p>
            <a:pPr>
              <a:spcBef>
                <a:spcPts val="200"/>
              </a:spcBef>
              <a:defRPr sz="2700" b="1">
                <a:solidFill>
                  <a:srgbClr val="332F2B"/>
                </a:solidFill>
                <a:latin typeface="Arial"/>
              </a:defRPr>
            </a:pPr>
            <a:r>
              <a:t>Mobile &amp; Web Dashboard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FBECDF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C1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LDR Anchor (React Native App)</a:t>
            </a:r>
          </a:p>
        </p:txBody>
      </p:sp>
      <p:pic>
        <p:nvPicPr>
          <p:cNvPr id="6" name="Picture 5" descr="project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3286732"/>
            <a:ext cx="1417320" cy="1884734"/>
          </a:xfrm>
          <a:prstGeom prst="rect">
            <a:avLst/>
          </a:prstGeom>
          <a:effectLst>
            <a:outerShdw blurRad="73152" dist="27432" dir="5400000" rotWithShape="0">
              <a:srgbClr val="4A4038">
                <a:alpha val="2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05156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Aplikasi mobile Android khusus pasangan jarak jauh (LDR).</a:t>
            </a:r>
          </a:p>
          <a:p>
            <a:pPr>
              <a:spcAft>
                <a:spcPts val="8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Fitur Mood sharing real-time &amp; pelukan virtual interaktif.</a:t>
            </a:r>
          </a:p>
          <a:p>
            <a:pPr>
              <a:spcAft>
                <a:spcPts val="8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Integrasi FCM V1 Push Notification via Expo.</a:t>
            </a:r>
          </a:p>
          <a:p>
            <a:pPr>
              <a:spcAft>
                <a:spcPts val="8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Firebase Firestore &amp; Auth backend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E6F0E8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Clinical Suite Dashboard</a:t>
            </a:r>
          </a:p>
        </p:txBody>
      </p:sp>
      <p:pic>
        <p:nvPicPr>
          <p:cNvPr id="11" name="Picture 10" descr="project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2806233"/>
            <a:ext cx="1280160" cy="2845732"/>
          </a:xfrm>
          <a:prstGeom prst="rect">
            <a:avLst/>
          </a:prstGeom>
          <a:effectLst>
            <a:outerShdw blurRad="73152" dist="27432" dir="5400000" rotWithShape="0">
              <a:srgbClr val="4A4038">
                <a:alpha val="2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629400" y="269748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Sistem rekapitulasi data medis &amp; manajemen klinis.</a:t>
            </a:r>
          </a:p>
          <a:p>
            <a:pPr>
              <a:spcAft>
                <a:spcPts val="8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Kalkulator parameter medis fungsional otomatis.</a:t>
            </a:r>
          </a:p>
          <a:p>
            <a:pPr>
              <a:spcAft>
                <a:spcPts val="8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Antarmuka bersih &amp; presisi tinggi berbasis Tailwind.</a:t>
            </a:r>
          </a:p>
          <a:p>
            <a:pPr>
              <a:spcAft>
                <a:spcPts val="8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Dirancang khusus untuk efisiensi operasional medis.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B8A72"/>
                </a:solidFill>
                <a:latin typeface="Arial"/>
              </a:defRPr>
            </a:pPr>
            <a:r>
              <a:t>WEB APPLICATIONS</a:t>
            </a:r>
          </a:p>
          <a:p>
            <a:pPr>
              <a:spcBef>
                <a:spcPts val="200"/>
              </a:spcBef>
              <a:defRPr sz="2700" b="1">
                <a:solidFill>
                  <a:srgbClr val="332F2B"/>
                </a:solidFill>
                <a:latin typeface="Arial"/>
              </a:defRPr>
            </a:pPr>
            <a:r>
              <a:t>Enterprise Serverless &amp; Laravel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E6F0E8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5B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Cloud Inventory System (Serverless)</a:t>
            </a:r>
          </a:p>
        </p:txBody>
      </p:sp>
      <p:pic>
        <p:nvPicPr>
          <p:cNvPr id="6" name="Picture 5" descr="project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12" y="2697480"/>
            <a:ext cx="2721254" cy="1417320"/>
          </a:xfrm>
          <a:prstGeom prst="rect">
            <a:avLst/>
          </a:prstGeom>
          <a:effectLst>
            <a:outerShdw blurRad="73152" dist="27432" dir="5400000" rotWithShape="0">
              <a:srgbClr val="4A4038">
                <a:alpha val="2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051560" y="425196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Sistem inventaris berbasis Google Apps Script.</a:t>
            </a:r>
          </a:p>
          <a:p>
            <a:pPr>
              <a:spcAft>
                <a:spcPts val="4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Concurrency Protection via LockService.</a:t>
            </a:r>
          </a:p>
          <a:p>
            <a:pPr>
              <a:spcAft>
                <a:spcPts val="4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Role-Based Access Control (RBAC) &amp; Anti-XSS.</a:t>
            </a:r>
          </a:p>
          <a:p>
            <a:pPr>
              <a:spcAft>
                <a:spcPts val="400"/>
              </a:spcAft>
              <a:defRPr sz="1150">
                <a:solidFill>
                  <a:srgbClr val="332F2B"/>
                </a:solidFill>
                <a:latin typeface="Arial"/>
              </a:defRPr>
            </a:pPr>
            <a:r>
              <a:t>✓  Audit Trail log &amp; snapshot auto-backup ke Drive.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FBECDF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C1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65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Domain Explorer (Laravel 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974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Aplikasi manajemen domain berbasis Laravel 11.</a:t>
            </a:r>
          </a:p>
          <a:p>
            <a:pPr>
              <a:spcAft>
                <a:spcPts val="8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Arsitektur MVC bersih dengan Blade views.</a:t>
            </a:r>
          </a:p>
          <a:p>
            <a:pPr>
              <a:spcAft>
                <a:spcPts val="8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Penggunaan SQLite database untuk performa ringan.</a:t>
            </a:r>
          </a:p>
          <a:p>
            <a:pPr>
              <a:spcAft>
                <a:spcPts val="8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Database Migrations &amp; Seeders otomatis.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748C"/>
                </a:solidFill>
                <a:latin typeface="Arial"/>
              </a:defRPr>
            </a:pPr>
            <a:r>
              <a:t>UNDANGAN DIGITAL</a:t>
            </a:r>
          </a:p>
          <a:p>
            <a:pPr>
              <a:spcBef>
                <a:spcPts val="200"/>
              </a:spcBef>
              <a:defRPr sz="2700" b="1">
                <a:solidFill>
                  <a:srgbClr val="332F2B"/>
                </a:solidFill>
                <a:latin typeface="Arial"/>
              </a:defRPr>
            </a:pPr>
            <a:r>
              <a:t>LUME — Wedding Invitation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7711135" cy="4297680"/>
          </a:xfrm>
          <a:prstGeom prst="roundRect">
            <a:avLst>
              <a:gd name="adj" fmla="val 6000"/>
            </a:avLst>
          </a:prstGeom>
          <a:solidFill>
            <a:srgbClr val="FBE9ED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965960"/>
            <a:ext cx="502920" cy="502920"/>
          </a:xfrm>
          <a:prstGeom prst="ellipse">
            <a:avLst/>
          </a:prstGeom>
          <a:solidFill>
            <a:srgbClr val="C47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938528"/>
            <a:ext cx="670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2F2B"/>
                </a:solidFill>
                <a:latin typeface="Arial"/>
              </a:defRPr>
            </a:pPr>
            <a:r>
              <a:t>Jasa Pembuatan Undangan Digital Pernikahan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7162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8A847C"/>
                </a:solidFill>
                <a:latin typeface="Arial"/>
              </a:defRPr>
            </a:pPr>
            <a:r>
              <a:t>Layanan custom undangan pernikahan digital yang bisa dibagikan lewat link pribadi.</a:t>
            </a:r>
          </a:p>
          <a:p>
            <a:pPr>
              <a:spcAft>
                <a:spcPts val="8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Countdown Pernikahan Real-Time: hitung mundur hari, jam, menit, &amp; detik menuju hari-H.</a:t>
            </a:r>
          </a:p>
          <a:p>
            <a:pPr>
              <a:spcAft>
                <a:spcPts val="8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Desain Hero Elegan: foto pasangan dengan overlay gelap &amp; tipografi serif premium.</a:t>
            </a:r>
          </a:p>
          <a:p>
            <a:pPr>
              <a:spcAft>
                <a:spcPts val="8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Custom Nama &amp; Tanggal: setiap undangan dipersonalisasi sesuai identitas pasangan.</a:t>
            </a:r>
          </a:p>
          <a:p>
            <a:pPr>
              <a:spcAft>
                <a:spcPts val="800"/>
              </a:spcAft>
              <a:defRPr sz="1250">
                <a:solidFill>
                  <a:srgbClr val="332F2B"/>
                </a:solidFill>
                <a:latin typeface="Arial"/>
              </a:defRPr>
            </a:pPr>
            <a:r>
              <a:t>✓  Dibagikan via Link Pribadi: mudah disebar lewat WhatsApp maupun media sosial.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16975" y="1995664"/>
            <a:ext cx="2743200" cy="378107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9728" dist="36576" dir="5400000" rotWithShape="0">
              <a:srgbClr val="4A403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ject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703" y="2105392"/>
            <a:ext cx="2523744" cy="3561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EC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37360" y="1463040"/>
            <a:ext cx="8714232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8016" dist="45720" dir="5400000" rotWithShape="0">
              <a:srgbClr val="4A403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>
              <a:defRPr b="1" sz="3000">
                <a:solidFill>
                  <a:srgbClr val="C4748C"/>
                </a:solidFill>
                <a:latin typeface="Arial"/>
              </a:defRPr>
            </a:pPr>
            <a:r>
              <a:t>Mari Berkolaborasi!</a:t>
            </a:r>
          </a:p>
          <a:p>
            <a:pPr algn="ctr">
              <a:spcBef>
                <a:spcPts val="800"/>
              </a:spcBef>
              <a:spcAft>
                <a:spcPts val="2000"/>
              </a:spcAft>
              <a:defRPr sz="1400">
                <a:solidFill>
                  <a:srgbClr val="8A847C"/>
                </a:solidFill>
                <a:latin typeface="Arial"/>
              </a:defRPr>
            </a:pPr>
            <a:r>
              <a:t>Terbuka untuk proyek freelance, pengembangan sistem kustom, maupun posisi software engineer.</a:t>
            </a:r>
          </a:p>
          <a:p>
            <a:pPr algn="ctr">
              <a:spcAft>
                <a:spcPts val="600"/>
              </a:spcAft>
              <a:defRPr sz="1500">
                <a:solidFill>
                  <a:srgbClr val="332F2B"/>
                </a:solidFill>
                <a:latin typeface="Arial"/>
              </a:defRPr>
            </a:pPr>
            <a:r>
              <a:t>WhatsApp   : +62 895-4147-81707</a:t>
            </a:r>
          </a:p>
          <a:p>
            <a:pPr algn="ctr">
              <a:spcAft>
                <a:spcPts val="600"/>
              </a:spcAft>
              <a:defRPr sz="1500">
                <a:solidFill>
                  <a:srgbClr val="332F2B"/>
                </a:solidFill>
                <a:latin typeface="Arial"/>
              </a:defRPr>
            </a:pPr>
            <a:r>
              <a:t>Email          : ulula2812@gmail.com</a:t>
            </a:r>
          </a:p>
          <a:p>
            <a:pPr algn="ctr">
              <a:spcAft>
                <a:spcPts val="600"/>
              </a:spcAft>
              <a:defRPr sz="1500">
                <a:solidFill>
                  <a:srgbClr val="332F2B"/>
                </a:solidFill>
                <a:latin typeface="Arial"/>
              </a:defRPr>
            </a:pPr>
            <a:r>
              <a:t>Portofolio    : ulul-portofolio-3odd.vercel.app</a:t>
            </a:r>
          </a:p>
          <a:p>
            <a:pPr algn="ctr">
              <a:spcAft>
                <a:spcPts val="600"/>
              </a:spcAft>
              <a:defRPr sz="1500">
                <a:solidFill>
                  <a:srgbClr val="332F2B"/>
                </a:solidFill>
                <a:latin typeface="Arial"/>
              </a:defRPr>
            </a:pPr>
            <a:r>
              <a:t>Lokasi         : Bogor, Jawa Barat, 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